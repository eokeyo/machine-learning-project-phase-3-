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0" r:id="rId12"/>
    <p:sldId id="271" r:id="rId13"/>
    <p:sldId id="269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89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159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2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49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29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87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2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62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7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252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23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11405-6D3D-406C-9BA0-11868AACE9E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7AFE952-B23F-4856-B3B4-4FDE1C461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71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CED9-4971-403D-9937-0E836B226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Churn Prediction Project</a:t>
            </a:r>
            <a:b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3 – Machine Learning</a:t>
            </a:r>
            <a:b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A5054-DAC9-436D-9D4D-4F25E02E2F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Objective: Identify customers at risk of leaving before they churn</a:t>
            </a:r>
            <a:endParaRPr lang="en-US" b="1" i="1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Team: Customer Success &amp; Retention Analytics</a:t>
            </a:r>
            <a:endParaRPr lang="en-US" b="1" i="1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8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6858-DD8F-4E8E-A3AF-5271D0EE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>
            <a:noAutofit/>
          </a:bodyPr>
          <a:lstStyle/>
          <a:p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Problem &amp; GOAL</a:t>
            </a:r>
            <a:br>
              <a:rPr lang="en-US" sz="3600" dirty="0">
                <a:effectLst/>
                <a:latin typeface="Aptos"/>
                <a:ea typeface="Aptos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224CA-2481-4BC8-82E5-60AC08C0F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Losing customers reduces revenue and increases acquisition costs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Retaining customers is more cost-effective than acquiring new ones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data to proactively identify at-risk customers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Enable retention teams to take targeted actions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640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53C8-1055-499F-A2F2-119C40C0C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Graphical presentation of customer churning vs not churning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FB866-A9D5-46A8-AE2F-74D083A49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7652" y="1853754"/>
            <a:ext cx="5747189" cy="4277654"/>
          </a:xfrm>
        </p:spPr>
      </p:pic>
    </p:spTree>
    <p:extLst>
      <p:ext uri="{BB962C8B-B14F-4D97-AF65-F5344CB8AC3E}">
        <p14:creationId xmlns:p14="http://schemas.microsoft.com/office/powerpoint/2010/main" val="105232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157D5CB-5FDC-46DE-BF94-FB48A888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Models TO BE Tested</a:t>
            </a:r>
            <a:endParaRPr lang="en-US" sz="3600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1434ED34-5023-4A02-912B-0CDBF4694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1961362"/>
              </p:ext>
            </p:extLst>
          </p:nvPr>
        </p:nvGraphicFramePr>
        <p:xfrm>
          <a:off x="1245688" y="2206678"/>
          <a:ext cx="9887535" cy="2665931"/>
        </p:xfrm>
        <a:graphic>
          <a:graphicData uri="http://schemas.openxmlformats.org/drawingml/2006/table">
            <a:tbl>
              <a:tblPr firstRow="1" firstCol="1" bandRow="1">
                <a:tableStyleId>{46F890A9-2807-4EBB-B81D-B2AA78EC7F39}</a:tableStyleId>
              </a:tblPr>
              <a:tblGrid>
                <a:gridCol w="3295845">
                  <a:extLst>
                    <a:ext uri="{9D8B030D-6E8A-4147-A177-3AD203B41FA5}">
                      <a16:colId xmlns:a16="http://schemas.microsoft.com/office/drawing/2014/main" val="3706142475"/>
                    </a:ext>
                  </a:extLst>
                </a:gridCol>
                <a:gridCol w="3295845">
                  <a:extLst>
                    <a:ext uri="{9D8B030D-6E8A-4147-A177-3AD203B41FA5}">
                      <a16:colId xmlns:a16="http://schemas.microsoft.com/office/drawing/2014/main" val="3512529665"/>
                    </a:ext>
                  </a:extLst>
                </a:gridCol>
                <a:gridCol w="3295845">
                  <a:extLst>
                    <a:ext uri="{9D8B030D-6E8A-4147-A177-3AD203B41FA5}">
                      <a16:colId xmlns:a16="http://schemas.microsoft.com/office/drawing/2014/main" val="1212696029"/>
                    </a:ext>
                  </a:extLst>
                </a:gridCol>
              </a:tblGrid>
              <a:tr h="445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Model</a:t>
                      </a:r>
                      <a:endParaRPr lang="en-US" sz="20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Type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Notes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847163"/>
                  </a:ext>
                </a:extLst>
              </a:tr>
              <a:tr h="4450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Logistic Regression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Linear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Baseline, interpretable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04584552"/>
                  </a:ext>
                </a:extLst>
              </a:tr>
              <a:tr h="4450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Decision Tree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Rule-based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Easy to explain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748317"/>
                  </a:ext>
                </a:extLst>
              </a:tr>
              <a:tr h="4450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Random Forest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Ensemble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High precision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69627822"/>
                  </a:ext>
                </a:extLst>
              </a:tr>
              <a:tr h="8857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Gradient Boosting</a:t>
                      </a:r>
                      <a:endParaRPr lang="en-US" sz="20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Ensemble</a:t>
                      </a:r>
                      <a:endParaRPr lang="en-US" sz="20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Best balance of recall &amp; precision</a:t>
                      </a:r>
                      <a:endParaRPr lang="en-US" sz="20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7789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86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3184-399F-4426-AC65-91B3DDD81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KEY METRICS TO BE USED TO MEASURE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790A-F54B-4223-8DD7-E5B95408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Overall correctness of the model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When we flag a customer as at risk, how often are we correct?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Out of all customers who actually churn, how many did we correctly identify?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(Most important for business)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Balance between precision and recall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AUC: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Overall ability to separate churners from non-churners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565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4E2B-DAB8-4C4C-BF2A-9FD0D12A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ACCURACY_SCORE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6816EE-7FD9-40C3-A7C7-B483CAD46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594372"/>
              </p:ext>
            </p:extLst>
          </p:nvPr>
        </p:nvGraphicFramePr>
        <p:xfrm>
          <a:off x="1451579" y="2117558"/>
          <a:ext cx="9603276" cy="2695075"/>
        </p:xfrm>
        <a:graphic>
          <a:graphicData uri="http://schemas.openxmlformats.org/drawingml/2006/table">
            <a:tbl>
              <a:tblPr firstRow="1" firstCol="1" bandRow="1">
                <a:tableStyleId>{46F890A9-2807-4EBB-B81D-B2AA78EC7F39}</a:tableStyleId>
              </a:tblPr>
              <a:tblGrid>
                <a:gridCol w="4801638">
                  <a:extLst>
                    <a:ext uri="{9D8B030D-6E8A-4147-A177-3AD203B41FA5}">
                      <a16:colId xmlns:a16="http://schemas.microsoft.com/office/drawing/2014/main" val="1621338197"/>
                    </a:ext>
                  </a:extLst>
                </a:gridCol>
                <a:gridCol w="4801638">
                  <a:extLst>
                    <a:ext uri="{9D8B030D-6E8A-4147-A177-3AD203B41FA5}">
                      <a16:colId xmlns:a16="http://schemas.microsoft.com/office/drawing/2014/main" val="1177172316"/>
                    </a:ext>
                  </a:extLst>
                </a:gridCol>
              </a:tblGrid>
              <a:tr h="5390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Model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Accuracy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13139041"/>
                  </a:ext>
                </a:extLst>
              </a:tr>
              <a:tr h="5390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Logistic Regression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85.5%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90546712"/>
                  </a:ext>
                </a:extLst>
              </a:tr>
              <a:tr h="5390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Decision Tree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88.8%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68446566"/>
                  </a:ext>
                </a:extLst>
              </a:tr>
              <a:tr h="5390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Random Forest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93.2%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6320730"/>
                  </a:ext>
                </a:extLst>
              </a:tr>
              <a:tr h="5390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Gradient Boosting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93.2%</a:t>
                      </a:r>
                      <a:endParaRPr lang="en-US" sz="2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8784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277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4C2C9-7357-484C-92C5-22F6F68D1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RECALL_SCORE COMPARISON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2666AF-3594-4BA8-8170-F577E99D5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Insight:</a:t>
            </a:r>
            <a:endParaRPr lang="en-US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Catching more at-risk customers prevents revenue loss</a:t>
            </a:r>
            <a:endParaRPr lang="en-US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Gradient Boosting identifies the largest share of churners</a:t>
            </a:r>
            <a:endParaRPr lang="en-US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61A064-6ABA-4377-AC42-E4A3B145B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800657"/>
              </p:ext>
            </p:extLst>
          </p:nvPr>
        </p:nvGraphicFramePr>
        <p:xfrm>
          <a:off x="1451579" y="1853754"/>
          <a:ext cx="9603770" cy="2400745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4801885">
                  <a:extLst>
                    <a:ext uri="{9D8B030D-6E8A-4147-A177-3AD203B41FA5}">
                      <a16:colId xmlns:a16="http://schemas.microsoft.com/office/drawing/2014/main" val="2450240684"/>
                    </a:ext>
                  </a:extLst>
                </a:gridCol>
                <a:gridCol w="4801885">
                  <a:extLst>
                    <a:ext uri="{9D8B030D-6E8A-4147-A177-3AD203B41FA5}">
                      <a16:colId xmlns:a16="http://schemas.microsoft.com/office/drawing/2014/main" val="4269055286"/>
                    </a:ext>
                  </a:extLst>
                </a:gridCol>
              </a:tblGrid>
              <a:tr h="4801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Model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Recall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1467503"/>
                  </a:ext>
                </a:extLst>
              </a:tr>
              <a:tr h="4801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Logistic Regression</a:t>
                      </a:r>
                      <a:endParaRPr lang="en-US" sz="2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17.8%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9424669"/>
                  </a:ext>
                </a:extLst>
              </a:tr>
              <a:tr h="4801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Decision Tree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59.5%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4230235"/>
                  </a:ext>
                </a:extLst>
              </a:tr>
              <a:tr h="4801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Random Forest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57.9%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0565971"/>
                  </a:ext>
                </a:extLst>
              </a:tr>
              <a:tr h="4801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Gradient Boosting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61.6%</a:t>
                      </a:r>
                      <a:endParaRPr lang="en-US" sz="2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8383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190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2BAE-0FBD-485D-975E-E83CD3A98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Precision (Reliability of Alerts)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CB0F2-3E18-427E-835E-0D5C3C963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Insight:</a:t>
            </a:r>
            <a:endParaRPr lang="en-US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 Forest is highly reliable when it flags churners</a:t>
            </a:r>
            <a:endParaRPr lang="en-US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Fewer unnecessary retention actions</a:t>
            </a:r>
            <a:endParaRPr lang="en-US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A17FFD-10A0-4FCA-9B14-E6341BB5A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886371"/>
              </p:ext>
            </p:extLst>
          </p:nvPr>
        </p:nvGraphicFramePr>
        <p:xfrm>
          <a:off x="1450480" y="1853754"/>
          <a:ext cx="9604374" cy="2266950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4802187">
                  <a:extLst>
                    <a:ext uri="{9D8B030D-6E8A-4147-A177-3AD203B41FA5}">
                      <a16:colId xmlns:a16="http://schemas.microsoft.com/office/drawing/2014/main" val="3034867294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1785192408"/>
                    </a:ext>
                  </a:extLst>
                </a:gridCol>
              </a:tblGrid>
              <a:tr h="2051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Model</a:t>
                      </a:r>
                      <a:endParaRPr lang="en-US" sz="2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Precision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9309396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Logistic Regression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50.6%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1279778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Decision Tree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61.8%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2677526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Random Forest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92.7%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73462838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Gradient Boosting</a:t>
                      </a:r>
                      <a:endParaRPr lang="en-US" sz="2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86.1%</a:t>
                      </a:r>
                      <a:endParaRPr lang="en-US" sz="2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4628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77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9B94-F95E-4F15-B684-626DE8BF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F1-Score (Balanced Performance)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B690A-53DA-4D85-B4C5-BC68CB9CF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Insight:</a:t>
            </a:r>
            <a:endParaRPr lang="en-US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Gradient Boosting provides the best overall balance between detecting churners and minimizing false alarms</a:t>
            </a:r>
            <a:endParaRPr lang="en-US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CA885A-3C2A-418F-ADD9-12222A680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74990"/>
              </p:ext>
            </p:extLst>
          </p:nvPr>
        </p:nvGraphicFramePr>
        <p:xfrm>
          <a:off x="1331495" y="1853754"/>
          <a:ext cx="9723854" cy="2400745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4861927">
                  <a:extLst>
                    <a:ext uri="{9D8B030D-6E8A-4147-A177-3AD203B41FA5}">
                      <a16:colId xmlns:a16="http://schemas.microsoft.com/office/drawing/2014/main" val="3778772301"/>
                    </a:ext>
                  </a:extLst>
                </a:gridCol>
                <a:gridCol w="4861927">
                  <a:extLst>
                    <a:ext uri="{9D8B030D-6E8A-4147-A177-3AD203B41FA5}">
                      <a16:colId xmlns:a16="http://schemas.microsoft.com/office/drawing/2014/main" val="2953481165"/>
                    </a:ext>
                  </a:extLst>
                </a:gridCol>
              </a:tblGrid>
              <a:tr h="4801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Model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F1-Score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72063028"/>
                  </a:ext>
                </a:extLst>
              </a:tr>
              <a:tr h="4801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Logistic Regression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0.263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3453423"/>
                  </a:ext>
                </a:extLst>
              </a:tr>
              <a:tr h="4801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Decision Tree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0.606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82446099"/>
                  </a:ext>
                </a:extLst>
              </a:tr>
              <a:tr h="4801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Random Forest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0.712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37592582"/>
                  </a:ext>
                </a:extLst>
              </a:tr>
              <a:tr h="4801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Gradient Boosting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0.718</a:t>
                      </a:r>
                      <a:endParaRPr lang="en-US" sz="24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8594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7806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CAB51-96D6-4FEB-BE24-18444A480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AUC (Overall Model Strength)</a:t>
            </a:r>
            <a:br>
              <a:rPr lang="en-US" sz="4000" dirty="0">
                <a:effectLst/>
                <a:latin typeface="Aptos"/>
                <a:ea typeface="Aptos"/>
                <a:cs typeface="Times New Roman" panose="02020603050405020304" pitchFamily="18" charset="0"/>
              </a:rPr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831A4-8AA7-497D-A2A9-293502686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Insight:</a:t>
            </a:r>
            <a:endParaRPr lang="en-US" dirty="0"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Gradient Boosting is the strongest at distinguishing churners from non-churners</a:t>
            </a:r>
            <a:endParaRPr lang="en-US" dirty="0"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01B6A8-5918-4AD8-A909-75225B910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163611"/>
              </p:ext>
            </p:extLst>
          </p:nvPr>
        </p:nvGraphicFramePr>
        <p:xfrm>
          <a:off x="1451029" y="2015732"/>
          <a:ext cx="9604374" cy="1957070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4802187">
                  <a:extLst>
                    <a:ext uri="{9D8B030D-6E8A-4147-A177-3AD203B41FA5}">
                      <a16:colId xmlns:a16="http://schemas.microsoft.com/office/drawing/2014/main" val="2850364145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2028520039"/>
                    </a:ext>
                  </a:extLst>
                </a:gridCol>
              </a:tblGrid>
              <a:tr h="2051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Model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AUC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2584563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Logistic Regression</a:t>
                      </a:r>
                      <a:endParaRPr lang="en-US" sz="24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0.830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99832812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Decision Tree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0.766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1075966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Random Forest</a:t>
                      </a:r>
                      <a:endParaRPr lang="en-US" sz="24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0.906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6239824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Gradient Boosting</a:t>
                      </a:r>
                      <a:endParaRPr lang="en-US" sz="24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0.913</a:t>
                      </a:r>
                      <a:endParaRPr lang="en-US" sz="24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91021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507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9788-3258-443B-88AB-0C9EBD82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0" dirty="0">
                <a:effectLst/>
                <a:latin typeface="Consolas" panose="020B0609020204030204" pitchFamily="49" charset="0"/>
              </a:rPr>
              <a:t>Churn Prediction Metrics Overview</a:t>
            </a:r>
            <a:br>
              <a:rPr lang="en-US" sz="4000" b="0" dirty="0">
                <a:effectLst/>
                <a:latin typeface="Consolas" panose="020B0609020204030204" pitchFamily="49" charset="0"/>
              </a:rPr>
            </a:b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B4D328-24A2-47E6-BD1A-5B06DC8382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975" y="2558037"/>
            <a:ext cx="9604375" cy="2365814"/>
          </a:xfrm>
        </p:spPr>
      </p:pic>
    </p:spTree>
    <p:extLst>
      <p:ext uri="{BB962C8B-B14F-4D97-AF65-F5344CB8AC3E}">
        <p14:creationId xmlns:p14="http://schemas.microsoft.com/office/powerpoint/2010/main" val="1153689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259A-C1F5-4B9B-B41B-2776E064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COMPARISON BY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F2FA52-0BAB-46C4-9820-659FC66E1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924" y="1853754"/>
            <a:ext cx="6545676" cy="4056476"/>
          </a:xfrm>
        </p:spPr>
      </p:pic>
    </p:spTree>
    <p:extLst>
      <p:ext uri="{BB962C8B-B14F-4D97-AF65-F5344CB8AC3E}">
        <p14:creationId xmlns:p14="http://schemas.microsoft.com/office/powerpoint/2010/main" val="3526122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33EF-7F18-4B91-B9DF-B2C87134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type and increasing complexity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D3328E-A630-47F6-AD73-1F633F947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5879" y="2181726"/>
            <a:ext cx="8883783" cy="3013031"/>
          </a:xfrm>
        </p:spPr>
      </p:pic>
    </p:spTree>
    <p:extLst>
      <p:ext uri="{BB962C8B-B14F-4D97-AF65-F5344CB8AC3E}">
        <p14:creationId xmlns:p14="http://schemas.microsoft.com/office/powerpoint/2010/main" val="3084098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43D7E-E19D-4268-9EED-383BBC1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Limitations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A9902-F255-4748-BEF4-8C2AA03A5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Imbalance: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Some churners may still be missed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Threshold Dependence: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Results vary depending on the probability cut-off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Limitations: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Missing external factors like competitor offers or customer sentiment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Ensemble models are less interpretable than simple Decision Trees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Overfitting Risk: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High-performance models may need careful monitoring for generalization</a:t>
            </a:r>
            <a:endParaRPr lang="en-US" sz="24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744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80F37-6C2D-4FDD-86CA-A74C9AF76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Recommendations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0F934-4A73-4309-B2DF-4C488D459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Deploy Gradient Boosting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proactive churn identification</a:t>
            </a:r>
            <a:endParaRPr lang="en-US" sz="2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Rank high-risk customers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predicted probability for targeted retention</a:t>
            </a:r>
            <a:endParaRPr lang="en-US" sz="2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 predictions into CRM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real-time alerts</a:t>
            </a:r>
            <a:endParaRPr lang="en-US" sz="2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Adjust thresholds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business priorities shift</a:t>
            </a:r>
            <a:endParaRPr lang="en-US" sz="2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Explore future enhancements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additional features, resampling, or alternative ensembles</a:t>
            </a:r>
            <a:endParaRPr lang="en-US" sz="2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684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1FB75-4273-4D96-8082-FB8C3072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 Impact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96327-05F7-444D-92D2-13CA35110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~62% of churners before they leave</a:t>
            </a:r>
            <a:endParaRPr lang="en-US" sz="32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Prioritize high-risk customers for retention campaigns</a:t>
            </a:r>
            <a:endParaRPr lang="en-US" sz="32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 revenue loss and increase customer lifetime value</a:t>
            </a:r>
            <a:endParaRPr lang="en-US" sz="32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Enable data-driven, proactive decision-making</a:t>
            </a:r>
            <a:endParaRPr lang="en-US" sz="32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30542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103</TotalTime>
  <Words>495</Words>
  <Application>Microsoft Office PowerPoint</Application>
  <PresentationFormat>Widescreen</PresentationFormat>
  <Paragraphs>141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Consolas</vt:lpstr>
      <vt:lpstr>Gill Sans MT</vt:lpstr>
      <vt:lpstr>Times New Roman</vt:lpstr>
      <vt:lpstr>Wingdings</vt:lpstr>
      <vt:lpstr>Gallery</vt:lpstr>
      <vt:lpstr>Customer Churn Prediction Project Phase 3 – Machine Learning </vt:lpstr>
      <vt:lpstr>Business Problem &amp; GOAL </vt:lpstr>
      <vt:lpstr>Graphical presentation of customer churning vs not churning </vt:lpstr>
      <vt:lpstr>Models TO BE Tested</vt:lpstr>
      <vt:lpstr>KEY METRICS TO BE USED TO MEASURE SUCCESS</vt:lpstr>
      <vt:lpstr>ACCURACY_SCORE COMPARISON</vt:lpstr>
      <vt:lpstr>RECALL_SCORE COMPARISON</vt:lpstr>
      <vt:lpstr>Precision (Reliability of Alerts)</vt:lpstr>
      <vt:lpstr>F1-Score (Balanced Performance)</vt:lpstr>
      <vt:lpstr>AUC (Overall Model Strength) </vt:lpstr>
      <vt:lpstr>Churn Prediction Metrics Overview </vt:lpstr>
      <vt:lpstr>RECALL COMPARISON BY MODEL</vt:lpstr>
      <vt:lpstr>Model type and increasing complexity</vt:lpstr>
      <vt:lpstr>Limitations</vt:lpstr>
      <vt:lpstr>Recommendations</vt:lpstr>
      <vt:lpstr>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Project Phase 3 – Machine Learning</dc:title>
  <dc:creator>Elvis Okeyo</dc:creator>
  <cp:lastModifiedBy>Elvis Okeyo</cp:lastModifiedBy>
  <cp:revision>9</cp:revision>
  <dcterms:created xsi:type="dcterms:W3CDTF">2026-02-13T21:04:49Z</dcterms:created>
  <dcterms:modified xsi:type="dcterms:W3CDTF">2026-02-13T22:48:27Z</dcterms:modified>
</cp:coreProperties>
</file>